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embeddedFontLst>
    <p:embeddedFont>
      <p:font typeface="Comfortaa"/>
      <p:regular r:id="rId25"/>
      <p:bold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Comfortaa-bold.fntdata"/><Relationship Id="rId25" Type="http://schemas.openxmlformats.org/officeDocument/2006/relationships/font" Target="fonts/Comfortaa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" name="Google Shape;3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04b82af50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04b82af50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104b82af509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104b82af509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104e09ee6f6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104e09ee6f6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104e09ee6f6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104e09ee6f6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e5512f274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e5512f274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104e09ee6f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104e09ee6f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e9201a0ca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e9201a0ca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e9201a0ca2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e9201a0ca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e9201a0ca2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e9201a0ca2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04e09ee6f6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104e09ee6f6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ebca41c60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ebca41c60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ebca41c608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ebca41c608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f151a030a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f151a030a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f151a030ae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f151a030a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f151a030ae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f151a030ae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f151a030ae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f151a030ae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f151a030ae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f151a030ae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104e09ee6f6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104e09ee6f6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0.png"/><Relationship Id="rId4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 Slid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"/>
          <p:cNvSpPr/>
          <p:nvPr/>
        </p:nvSpPr>
        <p:spPr>
          <a:xfrm>
            <a:off x="4097038" y="4171018"/>
            <a:ext cx="9498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rgbClr val="49494F"/>
                </a:solidFill>
                <a:latin typeface="Arial"/>
                <a:ea typeface="Arial"/>
                <a:cs typeface="Arial"/>
                <a:sym typeface="Arial"/>
              </a:rPr>
              <a:t>27 July 2021</a:t>
            </a:r>
            <a:endParaRPr b="0" i="0" sz="1400" u="none" cap="none" strike="noStrike">
              <a:solidFill>
                <a:srgbClr val="49494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" name="Google Shape;18;p2"/>
          <p:cNvPicPr preferRelativeResize="0"/>
          <p:nvPr/>
        </p:nvPicPr>
        <p:blipFill rotWithShape="1">
          <a:blip r:embed="rId2">
            <a:alphaModFix/>
          </a:blip>
          <a:srcRect b="30351" l="28620" r="0" t="0"/>
          <a:stretch/>
        </p:blipFill>
        <p:spPr>
          <a:xfrm>
            <a:off x="1" y="3327836"/>
            <a:ext cx="2740627" cy="18236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42330" y="4424934"/>
            <a:ext cx="1350152" cy="602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2"/>
          <p:cNvPicPr preferRelativeResize="0"/>
          <p:nvPr/>
        </p:nvPicPr>
        <p:blipFill rotWithShape="1">
          <a:blip r:embed="rId4">
            <a:alphaModFix/>
          </a:blip>
          <a:srcRect b="0" l="0" r="4985" t="0"/>
          <a:stretch/>
        </p:blipFill>
        <p:spPr>
          <a:xfrm>
            <a:off x="3801627" y="4542613"/>
            <a:ext cx="1540747" cy="468975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2"/>
          <p:cNvSpPr txBox="1"/>
          <p:nvPr/>
        </p:nvSpPr>
        <p:spPr>
          <a:xfrm>
            <a:off x="1143000" y="3614759"/>
            <a:ext cx="68580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Intelligent Digital Manufacturing Laboratory (IDML)</a:t>
            </a:r>
            <a:endParaRPr sz="1100"/>
          </a:p>
          <a:p>
            <a:pPr indent="0" lvl="0" marL="0" marR="0" rtl="0" algn="ctr">
              <a:spcBef>
                <a:spcPts val="200"/>
              </a:spcBef>
              <a:spcAft>
                <a:spcPts val="0"/>
              </a:spcAft>
              <a:buClr>
                <a:srgbClr val="087BDA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087BDA"/>
                </a:solidFill>
                <a:latin typeface="Arial"/>
                <a:ea typeface="Arial"/>
                <a:cs typeface="Arial"/>
                <a:sym typeface="Arial"/>
              </a:rPr>
              <a:t>www.intelligent-manufacturing.ca</a:t>
            </a:r>
            <a:endParaRPr sz="1100"/>
          </a:p>
          <a:p>
            <a:pPr indent="0" lvl="0" marL="0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/>
          <p:nvPr>
            <p:ph idx="1" type="body"/>
          </p:nvPr>
        </p:nvSpPr>
        <p:spPr>
          <a:xfrm>
            <a:off x="395537" y="203114"/>
            <a:ext cx="83091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ctr">
              <a:spcBef>
                <a:spcPts val="300"/>
              </a:spcBef>
              <a:spcAft>
                <a:spcPts val="0"/>
              </a:spcAft>
              <a:buClr>
                <a:srgbClr val="05297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5297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24" name="Google Shape;24;p3"/>
          <p:cNvCxnSpPr/>
          <p:nvPr/>
        </p:nvCxnSpPr>
        <p:spPr>
          <a:xfrm>
            <a:off x="395537" y="519521"/>
            <a:ext cx="8309100" cy="0"/>
          </a:xfrm>
          <a:prstGeom prst="straightConnector1">
            <a:avLst/>
          </a:prstGeom>
          <a:noFill/>
          <a:ln cap="flat" cmpd="sng" w="19050">
            <a:solidFill>
              <a:srgbClr val="05297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8513030" y="4869656"/>
            <a:ext cx="38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05297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05297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05297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05297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05297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05297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05297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05297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05297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nal_Slide" showMasterSp="0">
  <p:cSld name="Final_Slide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/>
          <p:nvPr/>
        </p:nvSpPr>
        <p:spPr>
          <a:xfrm>
            <a:off x="3577698" y="2129365"/>
            <a:ext cx="1683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Thank You!</a:t>
            </a:r>
            <a:endParaRPr sz="1100"/>
          </a:p>
        </p:txBody>
      </p:sp>
      <p:pic>
        <p:nvPicPr>
          <p:cNvPr id="28" name="Google Shape;28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545886" y="3489852"/>
            <a:ext cx="1782520" cy="8079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/>
        </p:txBody>
      </p:sp>
      <p:sp>
        <p:nvSpPr>
          <p:cNvPr id="31" name="Google Shape;31;p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9.png"/><Relationship Id="rId3" Type="http://schemas.openxmlformats.org/officeDocument/2006/relationships/image" Target="../media/image19.png"/><Relationship Id="rId4" Type="http://schemas.openxmlformats.org/officeDocument/2006/relationships/slideLayout" Target="../slideLayouts/slideLayout1.xml"/><Relationship Id="rId9" Type="http://schemas.openxmlformats.org/officeDocument/2006/relationships/theme" Target="../theme/theme2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16977" y="4500155"/>
            <a:ext cx="1291556" cy="585414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7;p1"/>
          <p:cNvPicPr preferRelativeResize="0"/>
          <p:nvPr/>
        </p:nvPicPr>
        <p:blipFill rotWithShape="1">
          <a:blip r:embed="rId2">
            <a:alphaModFix amt="20000"/>
          </a:blip>
          <a:srcRect b="67310" l="7642" r="0" t="1559"/>
          <a:stretch/>
        </p:blipFill>
        <p:spPr>
          <a:xfrm rot="10800000">
            <a:off x="8060520" y="4905166"/>
            <a:ext cx="572103" cy="23833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8;p1"/>
          <p:cNvPicPr preferRelativeResize="0"/>
          <p:nvPr/>
        </p:nvPicPr>
        <p:blipFill rotWithShape="1">
          <a:blip r:embed="rId3">
            <a:alphaModFix amt="20000"/>
          </a:blip>
          <a:srcRect b="64103" l="7641" r="0" t="4637"/>
          <a:stretch/>
        </p:blipFill>
        <p:spPr>
          <a:xfrm rot="10800000">
            <a:off x="8230072" y="4905168"/>
            <a:ext cx="648072" cy="23833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" name="Google Shape;9;p1"/>
          <p:cNvGrpSpPr/>
          <p:nvPr/>
        </p:nvGrpSpPr>
        <p:grpSpPr>
          <a:xfrm>
            <a:off x="1547708" y="4905165"/>
            <a:ext cx="7285553" cy="208975"/>
            <a:chOff x="899592" y="6237312"/>
            <a:chExt cx="7632848" cy="278633"/>
          </a:xfrm>
        </p:grpSpPr>
        <p:sp>
          <p:nvSpPr>
            <p:cNvPr id="10" name="Google Shape;10;p1"/>
            <p:cNvSpPr txBox="1"/>
            <p:nvPr/>
          </p:nvSpPr>
          <p:spPr>
            <a:xfrm>
              <a:off x="7146286" y="6282845"/>
              <a:ext cx="1008000" cy="23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>
                  <a:solidFill>
                    <a:srgbClr val="052970"/>
                  </a:solidFill>
                </a:rPr>
                <a:t>Ghanashyam R K P</a:t>
              </a:r>
              <a:endParaRPr sz="1100"/>
            </a:p>
          </p:txBody>
        </p:sp>
        <p:sp>
          <p:nvSpPr>
            <p:cNvPr id="11" name="Google Shape;11;p1"/>
            <p:cNvSpPr txBox="1"/>
            <p:nvPr/>
          </p:nvSpPr>
          <p:spPr>
            <a:xfrm>
              <a:off x="899592" y="6283683"/>
              <a:ext cx="3096300" cy="16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800" u="none" cap="none" strike="noStrike">
                  <a:solidFill>
                    <a:srgbClr val="052970"/>
                  </a:solidFill>
                  <a:latin typeface="Arial"/>
                  <a:ea typeface="Arial"/>
                  <a:cs typeface="Arial"/>
                  <a:sym typeface="Arial"/>
                </a:rPr>
                <a:t>© Intelligent Digital Manufacturing Lab (IDML)</a:t>
              </a:r>
              <a:endParaRPr sz="1100"/>
            </a:p>
          </p:txBody>
        </p:sp>
        <p:cxnSp>
          <p:nvCxnSpPr>
            <p:cNvPr id="12" name="Google Shape;12;p1"/>
            <p:cNvCxnSpPr/>
            <p:nvPr/>
          </p:nvCxnSpPr>
          <p:spPr>
            <a:xfrm rot="10800000">
              <a:off x="899597" y="6237312"/>
              <a:ext cx="6111000" cy="0"/>
            </a:xfrm>
            <a:prstGeom prst="straightConnector1">
              <a:avLst/>
            </a:prstGeom>
            <a:noFill/>
            <a:ln cap="flat" cmpd="sng" w="19050">
              <a:solidFill>
                <a:srgbClr val="05297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" name="Google Shape;13;p1"/>
            <p:cNvCxnSpPr/>
            <p:nvPr/>
          </p:nvCxnSpPr>
          <p:spPr>
            <a:xfrm rot="10800000">
              <a:off x="7010647" y="6237312"/>
              <a:ext cx="1269600" cy="0"/>
            </a:xfrm>
            <a:prstGeom prst="straightConnector1">
              <a:avLst/>
            </a:prstGeom>
            <a:noFill/>
            <a:ln cap="flat" cmpd="sng" w="19050">
              <a:solidFill>
                <a:srgbClr val="F1A9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" name="Google Shape;14;p1"/>
            <p:cNvCxnSpPr/>
            <p:nvPr/>
          </p:nvCxnSpPr>
          <p:spPr>
            <a:xfrm rot="10800000">
              <a:off x="8280140" y="6237312"/>
              <a:ext cx="252300" cy="0"/>
            </a:xfrm>
            <a:prstGeom prst="straightConnector1">
              <a:avLst/>
            </a:prstGeom>
            <a:noFill/>
            <a:ln cap="flat" cmpd="sng" w="19050">
              <a:solidFill>
                <a:srgbClr val="0A89F6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5" name="Google Shape;15;p1"/>
          <p:cNvSpPr txBox="1"/>
          <p:nvPr>
            <p:ph idx="12" type="sldNum"/>
          </p:nvPr>
        </p:nvSpPr>
        <p:spPr>
          <a:xfrm>
            <a:off x="8592129" y="4863493"/>
            <a:ext cx="341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5297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5297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5297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5297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5297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5297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5297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5297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05297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4"/>
    <p:sldLayoutId id="2147483649" r:id="rId5"/>
    <p:sldLayoutId id="2147483650" r:id="rId6"/>
    <p:sldLayoutId id="2147483651" r:id="rId7"/>
    <p:sldLayoutId id="2147483652" r:id="rId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jp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hyperlink" Target="http://scholar.google.com/citations?user=FHVU_UsAAAAJ&amp;hl=en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Relationship Id="rId4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Relationship Id="rId4" Type="http://schemas.openxmlformats.org/officeDocument/2006/relationships/image" Target="../media/image24.png"/><Relationship Id="rId5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8.png"/><Relationship Id="rId4" Type="http://schemas.openxmlformats.org/officeDocument/2006/relationships/image" Target="../media/image2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1.png"/><Relationship Id="rId4" Type="http://schemas.openxmlformats.org/officeDocument/2006/relationships/image" Target="../media/image2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://drive.google.com/file/d/1sYNmZ-oXY0lgNGADIOTX_Yb5ocNVgvPg/view" TargetMode="External"/><Relationship Id="rId4" Type="http://schemas.openxmlformats.org/officeDocument/2006/relationships/image" Target="../media/image23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ctrTitle"/>
          </p:nvPr>
        </p:nvSpPr>
        <p:spPr>
          <a:xfrm>
            <a:off x="1421252" y="1874425"/>
            <a:ext cx="6301500" cy="7695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900">
                <a:latin typeface="Times New Roman"/>
                <a:ea typeface="Times New Roman"/>
                <a:cs typeface="Times New Roman"/>
                <a:sym typeface="Times New Roman"/>
              </a:rPr>
              <a:t>Developing </a:t>
            </a:r>
            <a:r>
              <a:rPr b="1" lang="en-GB" sz="1900">
                <a:latin typeface="Times New Roman"/>
                <a:ea typeface="Times New Roman"/>
                <a:cs typeface="Times New Roman"/>
                <a:sym typeface="Times New Roman"/>
              </a:rPr>
              <a:t>self-adjusting</a:t>
            </a:r>
            <a:r>
              <a:rPr lang="en-GB" sz="1900">
                <a:latin typeface="Times New Roman"/>
                <a:ea typeface="Times New Roman"/>
                <a:cs typeface="Times New Roman"/>
                <a:sym typeface="Times New Roman"/>
              </a:rPr>
              <a:t> robotic welding systems for manufacturing of </a:t>
            </a:r>
            <a:r>
              <a:rPr b="1" lang="en-GB" sz="1900">
                <a:latin typeface="Times New Roman"/>
                <a:ea typeface="Times New Roman"/>
                <a:cs typeface="Times New Roman"/>
                <a:sym typeface="Times New Roman"/>
              </a:rPr>
              <a:t>augers</a:t>
            </a:r>
            <a:r>
              <a:rPr lang="en-GB" sz="19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41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42" name="Google Shape;42;p7"/>
          <p:cNvSpPr txBox="1"/>
          <p:nvPr>
            <p:ph idx="1" type="subTitle"/>
          </p:nvPr>
        </p:nvSpPr>
        <p:spPr>
          <a:xfrm>
            <a:off x="703950" y="3136700"/>
            <a:ext cx="7736100" cy="135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Ghanashyam R K P</a:t>
            </a:r>
            <a:endParaRPr>
              <a:solidFill>
                <a:schemeClr val="dk1"/>
              </a:solidFill>
              <a:latin typeface="Gentium Basic"/>
              <a:ea typeface="Gentium Basic"/>
              <a:cs typeface="Gentium Basic"/>
              <a:sym typeface="Gentium Basic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32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Manipal Institute of Technology, Manipal, Karnataka, India.</a:t>
            </a:r>
            <a:endParaRPr sz="1632">
              <a:solidFill>
                <a:schemeClr val="dk1"/>
              </a:solidFill>
              <a:latin typeface="Gentium Basic"/>
              <a:ea typeface="Gentium Basic"/>
              <a:cs typeface="Gentium Basic"/>
              <a:sym typeface="Gentium Basic"/>
            </a:endParaRPr>
          </a:p>
        </p:txBody>
      </p:sp>
      <p:pic>
        <p:nvPicPr>
          <p:cNvPr id="43" name="Google Shape;43;p7"/>
          <p:cNvPicPr preferRelativeResize="0"/>
          <p:nvPr/>
        </p:nvPicPr>
        <p:blipFill rotWithShape="1">
          <a:blip r:embed="rId3">
            <a:alphaModFix/>
          </a:blip>
          <a:srcRect b="6646" l="0" r="0" t="0"/>
          <a:stretch/>
        </p:blipFill>
        <p:spPr>
          <a:xfrm>
            <a:off x="488472" y="537703"/>
            <a:ext cx="2284800" cy="77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" name="Google Shape;44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13374" y="310799"/>
            <a:ext cx="1226625" cy="1226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3868475" y="253474"/>
            <a:ext cx="1407051" cy="1407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/>
        </p:nvSpPr>
        <p:spPr>
          <a:xfrm>
            <a:off x="569250" y="995700"/>
            <a:ext cx="8212200" cy="31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Under the Guidance of</a:t>
            </a:r>
            <a:endParaRPr i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181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700">
                <a:solidFill>
                  <a:srgbClr val="1155CC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Dr. Matt Khoshdarregi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Assistant Professor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Intelligent Digital Manufacturing Lab,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University of Manitoba, Winnipeg, Canada.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July - September 2021</a:t>
            </a:r>
            <a:endParaRPr b="1"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/>
        </p:nvSpPr>
        <p:spPr>
          <a:xfrm>
            <a:off x="276725" y="320425"/>
            <a:ext cx="86358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900">
                <a:latin typeface="Gentium Basic"/>
                <a:ea typeface="Gentium Basic"/>
                <a:cs typeface="Gentium Basic"/>
                <a:sym typeface="Gentium Basic"/>
              </a:rPr>
              <a:t>Certificate of Completion</a:t>
            </a:r>
            <a:endParaRPr b="1" sz="1900">
              <a:latin typeface="Gentium Basic"/>
              <a:ea typeface="Gentium Basic"/>
              <a:cs typeface="Gentium Basic"/>
              <a:sym typeface="Gentium Basic"/>
            </a:endParaRPr>
          </a:p>
        </p:txBody>
      </p:sp>
      <p:pic>
        <p:nvPicPr>
          <p:cNvPr id="56" name="Google Shape;56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47213" y="897975"/>
            <a:ext cx="5249576" cy="404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 txBox="1"/>
          <p:nvPr/>
        </p:nvSpPr>
        <p:spPr>
          <a:xfrm>
            <a:off x="374300" y="255300"/>
            <a:ext cx="848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Gentium Basic"/>
                <a:ea typeface="Gentium Basic"/>
                <a:cs typeface="Gentium Basic"/>
                <a:sym typeface="Gentium Basic"/>
              </a:rPr>
              <a:t>Robot Operating System</a:t>
            </a:r>
            <a:endParaRPr sz="2800">
              <a:latin typeface="Gentium Basic"/>
              <a:ea typeface="Gentium Basic"/>
              <a:cs typeface="Gentium Basic"/>
              <a:sym typeface="Gentium Basic"/>
            </a:endParaRPr>
          </a:p>
        </p:txBody>
      </p:sp>
      <p:sp>
        <p:nvSpPr>
          <p:cNvPr id="62" name="Google Shape;62;p10"/>
          <p:cNvSpPr txBox="1"/>
          <p:nvPr/>
        </p:nvSpPr>
        <p:spPr>
          <a:xfrm>
            <a:off x="777800" y="1012238"/>
            <a:ext cx="78282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Font typeface="Gentium Basic"/>
              <a:buChar char="●"/>
            </a:pPr>
            <a:r>
              <a:rPr lang="en-GB">
                <a:latin typeface="Gentium Basic"/>
                <a:ea typeface="Gentium Basic"/>
                <a:cs typeface="Gentium Basic"/>
                <a:sym typeface="Gentium Basic"/>
              </a:rPr>
              <a:t>ROS is an open source Middleware</a:t>
            </a:r>
            <a:endParaRPr>
              <a:latin typeface="Gentium Basic"/>
              <a:ea typeface="Gentium Basic"/>
              <a:cs typeface="Gentium Basic"/>
              <a:sym typeface="Gentium Basic"/>
            </a:endParaRPr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Font typeface="Gentium Basic"/>
              <a:buChar char="●"/>
            </a:pPr>
            <a:r>
              <a:rPr lang="en-GB">
                <a:latin typeface="Gentium Basic"/>
                <a:ea typeface="Gentium Basic"/>
                <a:cs typeface="Gentium Basic"/>
                <a:sym typeface="Gentium Basic"/>
              </a:rPr>
              <a:t>A set of software libraries and tools that help you build robot applications that work across a wide variety of robotic platforms</a:t>
            </a:r>
            <a:endParaRPr>
              <a:latin typeface="Gentium Basic"/>
              <a:ea typeface="Gentium Basic"/>
              <a:cs typeface="Gentium Basic"/>
              <a:sym typeface="Gentium Basic"/>
            </a:endParaRPr>
          </a:p>
        </p:txBody>
      </p:sp>
      <p:sp>
        <p:nvSpPr>
          <p:cNvPr id="63" name="Google Shape;63;p10"/>
          <p:cNvSpPr txBox="1"/>
          <p:nvPr/>
        </p:nvSpPr>
        <p:spPr>
          <a:xfrm>
            <a:off x="596000" y="1969150"/>
            <a:ext cx="8191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Gentium Basic"/>
                <a:ea typeface="Gentium Basic"/>
                <a:cs typeface="Gentium Basic"/>
                <a:sym typeface="Gentium Basic"/>
              </a:rPr>
              <a:t>ROS Nodes</a:t>
            </a:r>
            <a:endParaRPr sz="2400">
              <a:latin typeface="Gentium Basic"/>
              <a:ea typeface="Gentium Basic"/>
              <a:cs typeface="Gentium Basic"/>
              <a:sym typeface="Gentium Basic"/>
            </a:endParaRPr>
          </a:p>
        </p:txBody>
      </p:sp>
      <p:sp>
        <p:nvSpPr>
          <p:cNvPr id="64" name="Google Shape;64;p10"/>
          <p:cNvSpPr txBox="1"/>
          <p:nvPr/>
        </p:nvSpPr>
        <p:spPr>
          <a:xfrm>
            <a:off x="777800" y="2571750"/>
            <a:ext cx="78282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Font typeface="Gentium Basic"/>
              <a:buChar char="●"/>
            </a:pPr>
            <a:r>
              <a:rPr lang="en-GB">
                <a:latin typeface="Gentium Basic"/>
                <a:ea typeface="Gentium Basic"/>
                <a:cs typeface="Gentium Basic"/>
                <a:sym typeface="Gentium Basic"/>
              </a:rPr>
              <a:t>Single-purposed executable programs</a:t>
            </a:r>
            <a:endParaRPr>
              <a:latin typeface="Gentium Basic"/>
              <a:ea typeface="Gentium Basic"/>
              <a:cs typeface="Gentium Basic"/>
              <a:sym typeface="Gentium Basic"/>
            </a:endParaRPr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SzPts val="1400"/>
              <a:buFont typeface="Gentium Basic"/>
              <a:buChar char="○"/>
            </a:pPr>
            <a:r>
              <a:rPr lang="en-GB">
                <a:latin typeface="Gentium Basic"/>
                <a:ea typeface="Gentium Basic"/>
                <a:cs typeface="Gentium Basic"/>
                <a:sym typeface="Gentium Basic"/>
              </a:rPr>
              <a:t>E.g. Sensor driver(s), actuator driver(s), map building, planner, UI, etc.</a:t>
            </a:r>
            <a:endParaRPr>
              <a:latin typeface="Gentium Basic"/>
              <a:ea typeface="Gentium Basic"/>
              <a:cs typeface="Gentium Basic"/>
              <a:sym typeface="Gentium Basic"/>
            </a:endParaRPr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Font typeface="Gentium Basic"/>
              <a:buChar char="●"/>
            </a:pPr>
            <a:r>
              <a:rPr lang="en-GB">
                <a:latin typeface="Gentium Basic"/>
                <a:ea typeface="Gentium Basic"/>
                <a:cs typeface="Gentium Basic"/>
                <a:sym typeface="Gentium Basic"/>
              </a:rPr>
              <a:t>Individually  compiled,  executed, and  managed</a:t>
            </a:r>
            <a:endParaRPr>
              <a:latin typeface="Gentium Basic"/>
              <a:ea typeface="Gentium Basic"/>
              <a:cs typeface="Gentium Basic"/>
              <a:sym typeface="Gentium Basic"/>
            </a:endParaRPr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Font typeface="Gentium Basic"/>
              <a:buChar char="●"/>
            </a:pPr>
            <a:r>
              <a:rPr lang="en-GB">
                <a:latin typeface="Gentium Basic"/>
                <a:ea typeface="Gentium Basic"/>
                <a:cs typeface="Gentium Basic"/>
                <a:sym typeface="Gentium Basic"/>
              </a:rPr>
              <a:t>Nodes  are written  using a ROS client library</a:t>
            </a:r>
            <a:endParaRPr>
              <a:latin typeface="Gentium Basic"/>
              <a:ea typeface="Gentium Basic"/>
              <a:cs typeface="Gentium Basic"/>
              <a:sym typeface="Gentium Basic"/>
            </a:endParaRPr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SzPts val="1400"/>
              <a:buFont typeface="Gentium Basic"/>
              <a:buChar char="○"/>
            </a:pPr>
            <a:r>
              <a:rPr lang="en-GB">
                <a:latin typeface="Gentium Basic"/>
                <a:ea typeface="Gentium Basic"/>
                <a:cs typeface="Gentium Basic"/>
                <a:sym typeface="Gentium Basic"/>
              </a:rPr>
              <a:t>roscpp - C++  client library</a:t>
            </a:r>
            <a:endParaRPr>
              <a:latin typeface="Gentium Basic"/>
              <a:ea typeface="Gentium Basic"/>
              <a:cs typeface="Gentium Basic"/>
              <a:sym typeface="Gentium Basic"/>
            </a:endParaRPr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SzPts val="1400"/>
              <a:buFont typeface="Gentium Basic"/>
              <a:buChar char="○"/>
            </a:pPr>
            <a:r>
              <a:rPr lang="en-GB">
                <a:latin typeface="Gentium Basic"/>
                <a:ea typeface="Gentium Basic"/>
                <a:cs typeface="Gentium Basic"/>
                <a:sym typeface="Gentium Basic"/>
              </a:rPr>
              <a:t>rospy - python client library</a:t>
            </a:r>
            <a:endParaRPr b="1" sz="2800">
              <a:solidFill>
                <a:schemeClr val="dk1"/>
              </a:solidFill>
              <a:latin typeface="Gentium Basic"/>
              <a:ea typeface="Gentium Basic"/>
              <a:cs typeface="Gentium Basic"/>
              <a:sym typeface="Gentium Basic"/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Nodes can</a:t>
            </a:r>
            <a:r>
              <a:rPr lang="en-GB">
                <a:solidFill>
                  <a:srgbClr val="37527E"/>
                </a:solidFill>
                <a:latin typeface="Gentium Basic"/>
                <a:ea typeface="Gentium Basic"/>
                <a:cs typeface="Gentium Basic"/>
                <a:sym typeface="Gentium Basic"/>
              </a:rPr>
              <a:t> </a:t>
            </a:r>
            <a:r>
              <a:rPr lang="en-GB" u="sng">
                <a:solidFill>
                  <a:srgbClr val="37527E"/>
                </a:solidFill>
                <a:latin typeface="Gentium Basic"/>
                <a:ea typeface="Gentium Basic"/>
                <a:cs typeface="Gentium Basic"/>
                <a:sym typeface="Gentium Basic"/>
              </a:rPr>
              <a:t>publish</a:t>
            </a:r>
            <a:r>
              <a:rPr lang="en-GB">
                <a:solidFill>
                  <a:srgbClr val="37527E"/>
                </a:solidFill>
                <a:latin typeface="Gentium Basic"/>
                <a:ea typeface="Gentium Basic"/>
                <a:cs typeface="Gentium Basic"/>
                <a:sym typeface="Gentium Basic"/>
              </a:rPr>
              <a:t> </a:t>
            </a:r>
            <a:r>
              <a:rPr lang="en-GB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or</a:t>
            </a:r>
            <a:r>
              <a:rPr lang="en-GB">
                <a:solidFill>
                  <a:srgbClr val="37527E"/>
                </a:solidFill>
                <a:latin typeface="Gentium Basic"/>
                <a:ea typeface="Gentium Basic"/>
                <a:cs typeface="Gentium Basic"/>
                <a:sym typeface="Gentium Basic"/>
              </a:rPr>
              <a:t> </a:t>
            </a:r>
            <a:r>
              <a:rPr lang="en-GB" u="sng">
                <a:solidFill>
                  <a:srgbClr val="37527E"/>
                </a:solidFill>
                <a:latin typeface="Gentium Basic"/>
                <a:ea typeface="Gentium Basic"/>
                <a:cs typeface="Gentium Basic"/>
                <a:sym typeface="Gentium Basic"/>
              </a:rPr>
              <a:t>subscribe</a:t>
            </a:r>
            <a:r>
              <a:rPr lang="en-GB">
                <a:solidFill>
                  <a:srgbClr val="37527E"/>
                </a:solidFill>
                <a:latin typeface="Gentium Basic"/>
                <a:ea typeface="Gentium Basic"/>
                <a:cs typeface="Gentium Basic"/>
                <a:sym typeface="Gentium Basic"/>
              </a:rPr>
              <a:t> </a:t>
            </a:r>
            <a:r>
              <a:rPr lang="en-GB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to a </a:t>
            </a:r>
            <a:r>
              <a:rPr b="1" lang="en-GB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Topic</a:t>
            </a:r>
            <a:endParaRPr>
              <a:latin typeface="Gentium Basic"/>
              <a:ea typeface="Gentium Basic"/>
              <a:cs typeface="Gentium Basic"/>
              <a:sym typeface="Gentium Basi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/>
        </p:nvSpPr>
        <p:spPr>
          <a:xfrm>
            <a:off x="237775" y="275325"/>
            <a:ext cx="861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Gentium Basic"/>
                <a:ea typeface="Gentium Basic"/>
                <a:cs typeface="Gentium Basic"/>
                <a:sym typeface="Gentium Basic"/>
              </a:rPr>
              <a:t>Libraries used for processing point clouds</a:t>
            </a:r>
            <a:endParaRPr sz="2800">
              <a:latin typeface="Gentium Basic"/>
              <a:ea typeface="Gentium Basic"/>
              <a:cs typeface="Gentium Basic"/>
              <a:sym typeface="Gentium Basic"/>
            </a:endParaRPr>
          </a:p>
        </p:txBody>
      </p:sp>
      <p:sp>
        <p:nvSpPr>
          <p:cNvPr id="70" name="Google Shape;70;p11"/>
          <p:cNvSpPr txBox="1"/>
          <p:nvPr/>
        </p:nvSpPr>
        <p:spPr>
          <a:xfrm>
            <a:off x="475525" y="1232700"/>
            <a:ext cx="81345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746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Gentium Basic"/>
              <a:buAutoNum type="alphaLcParenBoth"/>
            </a:pPr>
            <a:r>
              <a:rPr lang="en-GB" sz="2300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Open3D: Open3D is an open-source library that supports rapid development of software that deals with 3D data.</a:t>
            </a:r>
            <a:endParaRPr sz="2300">
              <a:solidFill>
                <a:schemeClr val="dk1"/>
              </a:solidFill>
              <a:latin typeface="Gentium Basic"/>
              <a:ea typeface="Gentium Basic"/>
              <a:cs typeface="Gentium Basic"/>
              <a:sym typeface="Gentium Basic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  <a:latin typeface="Gentium Basic"/>
              <a:ea typeface="Gentium Basic"/>
              <a:cs typeface="Gentium Basic"/>
              <a:sym typeface="Gentium Basic"/>
            </a:endParaRPr>
          </a:p>
          <a:p>
            <a:pPr indent="-3746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Gentium Basic"/>
              <a:buAutoNum type="alphaLcParenBoth"/>
            </a:pPr>
            <a:r>
              <a:rPr lang="en-GB" sz="2300">
                <a:solidFill>
                  <a:schemeClr val="dk1"/>
                </a:solidFill>
                <a:latin typeface="Gentium Basic"/>
                <a:ea typeface="Gentium Basic"/>
                <a:cs typeface="Gentium Basic"/>
                <a:sym typeface="Gentium Basic"/>
              </a:rPr>
              <a:t>Point Cloud Library: The Point Cloud Library (PCL) is a standalone, large scale, open project for 2D/3D image and point cloud processing</a:t>
            </a:r>
            <a:endParaRPr sz="2500">
              <a:solidFill>
                <a:schemeClr val="dk1"/>
              </a:solidFill>
              <a:latin typeface="Gentium Basic"/>
              <a:ea typeface="Gentium Basic"/>
              <a:cs typeface="Gentium Basic"/>
              <a:sym typeface="Gentium Bas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>
            <a:off x="420475" y="378900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Gentium Basic"/>
                <a:ea typeface="Gentium Basic"/>
                <a:cs typeface="Gentium Basic"/>
                <a:sym typeface="Gentium Basic"/>
              </a:rPr>
              <a:t>Rotation of Point Cloud</a:t>
            </a:r>
            <a:endParaRPr sz="2800">
              <a:latin typeface="Gentium Basic"/>
              <a:ea typeface="Gentium Basic"/>
              <a:cs typeface="Gentium Basic"/>
              <a:sym typeface="Gentium Basic"/>
            </a:endParaRPr>
          </a:p>
        </p:txBody>
      </p:sp>
      <p:pic>
        <p:nvPicPr>
          <p:cNvPr id="76" name="Google Shape;76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1422" y="1290122"/>
            <a:ext cx="3064675" cy="307965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2"/>
          <p:cNvSpPr/>
          <p:nvPr/>
        </p:nvSpPr>
        <p:spPr>
          <a:xfrm>
            <a:off x="5652875" y="1174650"/>
            <a:ext cx="2035500" cy="465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Created C++ Library for Rotation</a:t>
            </a:r>
            <a:endParaRPr sz="1000"/>
          </a:p>
        </p:txBody>
      </p:sp>
      <p:sp>
        <p:nvSpPr>
          <p:cNvPr id="78" name="Google Shape;78;p12"/>
          <p:cNvSpPr/>
          <p:nvPr/>
        </p:nvSpPr>
        <p:spPr>
          <a:xfrm>
            <a:off x="5337275" y="2506550"/>
            <a:ext cx="2666700" cy="646800"/>
          </a:xfrm>
          <a:prstGeom prst="roundRect">
            <a:avLst>
              <a:gd fmla="val 16667" name="adj"/>
            </a:avLst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subscribes to a topic which publishes 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Point Cloud of type 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sensor_msgs::PointCloud2</a:t>
            </a:r>
            <a:endParaRPr sz="1000"/>
          </a:p>
        </p:txBody>
      </p:sp>
      <p:sp>
        <p:nvSpPr>
          <p:cNvPr id="79" name="Google Shape;79;p12"/>
          <p:cNvSpPr/>
          <p:nvPr/>
        </p:nvSpPr>
        <p:spPr>
          <a:xfrm>
            <a:off x="6252725" y="1926613"/>
            <a:ext cx="835800" cy="3261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ROS Node</a:t>
            </a:r>
            <a:endParaRPr sz="600"/>
          </a:p>
        </p:txBody>
      </p:sp>
      <p:sp>
        <p:nvSpPr>
          <p:cNvPr id="80" name="Google Shape;80;p12"/>
          <p:cNvSpPr/>
          <p:nvPr/>
        </p:nvSpPr>
        <p:spPr>
          <a:xfrm>
            <a:off x="6290675" y="3407175"/>
            <a:ext cx="759900" cy="3261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/>
              <a:t>ROTATES</a:t>
            </a:r>
            <a:endParaRPr sz="900"/>
          </a:p>
        </p:txBody>
      </p:sp>
      <p:sp>
        <p:nvSpPr>
          <p:cNvPr id="81" name="Google Shape;81;p12"/>
          <p:cNvSpPr/>
          <p:nvPr/>
        </p:nvSpPr>
        <p:spPr>
          <a:xfrm>
            <a:off x="5285975" y="3960975"/>
            <a:ext cx="2769300" cy="607800"/>
          </a:xfrm>
          <a:prstGeom prst="roundRect">
            <a:avLst>
              <a:gd fmla="val 16667" name="adj"/>
            </a:avLst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1"/>
                </a:solidFill>
              </a:rPr>
              <a:t>Publishes</a:t>
            </a:r>
            <a:r>
              <a:rPr lang="en-GB" sz="1000">
                <a:solidFill>
                  <a:schemeClr val="dk1"/>
                </a:solidFill>
              </a:rPr>
              <a:t> to a topic which subscribes 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1"/>
                </a:solidFill>
              </a:rPr>
              <a:t>Point Cloud of type 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1"/>
                </a:solidFill>
              </a:rPr>
              <a:t>sensor_msgs::PointCloud2</a:t>
            </a:r>
            <a:endParaRPr sz="1000">
              <a:solidFill>
                <a:schemeClr val="dk1"/>
              </a:solidFill>
            </a:endParaRPr>
          </a:p>
        </p:txBody>
      </p:sp>
      <p:cxnSp>
        <p:nvCxnSpPr>
          <p:cNvPr id="82" name="Google Shape;82;p12"/>
          <p:cNvCxnSpPr>
            <a:stCxn id="77" idx="2"/>
            <a:endCxn id="79" idx="0"/>
          </p:cNvCxnSpPr>
          <p:nvPr/>
        </p:nvCxnSpPr>
        <p:spPr>
          <a:xfrm>
            <a:off x="6670625" y="1640550"/>
            <a:ext cx="0" cy="28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3" name="Google Shape;83;p12"/>
          <p:cNvCxnSpPr>
            <a:stCxn id="79" idx="2"/>
            <a:endCxn id="78" idx="0"/>
          </p:cNvCxnSpPr>
          <p:nvPr/>
        </p:nvCxnSpPr>
        <p:spPr>
          <a:xfrm>
            <a:off x="6670625" y="2252713"/>
            <a:ext cx="0" cy="253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4" name="Google Shape;84;p12"/>
          <p:cNvCxnSpPr>
            <a:stCxn id="78" idx="2"/>
            <a:endCxn id="80" idx="0"/>
          </p:cNvCxnSpPr>
          <p:nvPr/>
        </p:nvCxnSpPr>
        <p:spPr>
          <a:xfrm>
            <a:off x="6670625" y="3153350"/>
            <a:ext cx="0" cy="253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5" name="Google Shape;85;p12"/>
          <p:cNvCxnSpPr>
            <a:stCxn id="80" idx="2"/>
            <a:endCxn id="81" idx="0"/>
          </p:cNvCxnSpPr>
          <p:nvPr/>
        </p:nvCxnSpPr>
        <p:spPr>
          <a:xfrm>
            <a:off x="6670625" y="3733275"/>
            <a:ext cx="0" cy="22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56463" y="853100"/>
            <a:ext cx="6231075" cy="41092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/>
        </p:nvSpPr>
        <p:spPr>
          <a:xfrm>
            <a:off x="287825" y="162700"/>
            <a:ext cx="8559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Gentium Basic"/>
                <a:ea typeface="Gentium Basic"/>
                <a:cs typeface="Gentium Basic"/>
                <a:sym typeface="Gentium Basic"/>
              </a:rPr>
              <a:t>Class for Rotation of Point Cloud Data</a:t>
            </a:r>
            <a:endParaRPr sz="2800">
              <a:latin typeface="Gentium Basic"/>
              <a:ea typeface="Gentium Basic"/>
              <a:cs typeface="Gentium Basic"/>
              <a:sym typeface="Gentium Basi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/>
          <p:nvPr>
            <p:ph type="title"/>
          </p:nvPr>
        </p:nvSpPr>
        <p:spPr>
          <a:xfrm>
            <a:off x="311700" y="78650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820">
                <a:latin typeface="Gentium Basic"/>
                <a:ea typeface="Gentium Basic"/>
                <a:cs typeface="Gentium Basic"/>
                <a:sym typeface="Gentium Basic"/>
              </a:rPr>
              <a:t>First Method and Projection of Points</a:t>
            </a:r>
            <a:endParaRPr sz="2820">
              <a:latin typeface="Gentium Basic"/>
              <a:ea typeface="Gentium Basic"/>
              <a:cs typeface="Gentium Basic"/>
              <a:sym typeface="Gentium Basic"/>
            </a:endParaRPr>
          </a:p>
        </p:txBody>
      </p:sp>
      <p:pic>
        <p:nvPicPr>
          <p:cNvPr id="97" name="Google Shape;97;p14"/>
          <p:cNvPicPr preferRelativeResize="0"/>
          <p:nvPr/>
        </p:nvPicPr>
        <p:blipFill rotWithShape="1">
          <a:blip r:embed="rId3">
            <a:alphaModFix/>
          </a:blip>
          <a:srcRect b="-1550" l="0" r="0" t="1550"/>
          <a:stretch/>
        </p:blipFill>
        <p:spPr>
          <a:xfrm>
            <a:off x="4740250" y="1661397"/>
            <a:ext cx="3476724" cy="2204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295300" y="2356500"/>
            <a:ext cx="2424099" cy="2424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/>
          <p:cNvPicPr preferRelativeResize="0"/>
          <p:nvPr/>
        </p:nvPicPr>
        <p:blipFill rotWithShape="1">
          <a:blip r:embed="rId5">
            <a:alphaModFix/>
          </a:blip>
          <a:srcRect b="20653" l="0" r="0" t="0"/>
          <a:stretch/>
        </p:blipFill>
        <p:spPr>
          <a:xfrm>
            <a:off x="1569875" y="1212700"/>
            <a:ext cx="1790700" cy="1783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First Method - Results</a:t>
            </a:r>
            <a:endParaRPr/>
          </a:p>
        </p:txBody>
      </p:sp>
      <p:sp>
        <p:nvSpPr>
          <p:cNvPr id="105" name="Google Shape;105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6" name="Google Shape;10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200" y="1093075"/>
            <a:ext cx="4406099" cy="353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50300" y="1152475"/>
            <a:ext cx="4223700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6"/>
          <p:cNvSpPr txBox="1"/>
          <p:nvPr>
            <p:ph type="title"/>
          </p:nvPr>
        </p:nvSpPr>
        <p:spPr>
          <a:xfrm>
            <a:off x="311700" y="294850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Gentium Basic"/>
                <a:ea typeface="Gentium Basic"/>
                <a:cs typeface="Gentium Basic"/>
                <a:sym typeface="Gentium Basic"/>
              </a:rPr>
              <a:t>Rotation - Why this method won’t work</a:t>
            </a:r>
            <a:endParaRPr sz="2800">
              <a:latin typeface="Gentium Basic"/>
              <a:ea typeface="Gentium Basic"/>
              <a:cs typeface="Gentium Basic"/>
              <a:sym typeface="Gentium Basic"/>
            </a:endParaRPr>
          </a:p>
        </p:txBody>
      </p:sp>
      <p:sp>
        <p:nvSpPr>
          <p:cNvPr id="113" name="Google Shape;11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4" name="Google Shape;11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8950" y="1270150"/>
            <a:ext cx="3786375" cy="318105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6"/>
          <p:cNvSpPr txBox="1"/>
          <p:nvPr/>
        </p:nvSpPr>
        <p:spPr>
          <a:xfrm>
            <a:off x="5284425" y="1888300"/>
            <a:ext cx="312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5301775" y="885950"/>
            <a:ext cx="2846233" cy="394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00">
                <a:latin typeface="Gentium Basic"/>
                <a:ea typeface="Gentium Basic"/>
                <a:cs typeface="Gentium Basic"/>
                <a:sym typeface="Gentium Basic"/>
              </a:rPr>
              <a:t>Axis Angle Concept</a:t>
            </a:r>
            <a:endParaRPr sz="2700">
              <a:latin typeface="Gentium Basic"/>
              <a:ea typeface="Gentium Basic"/>
              <a:cs typeface="Gentium Basic"/>
              <a:sym typeface="Gentium Basic"/>
            </a:endParaRPr>
          </a:p>
        </p:txBody>
      </p:sp>
      <p:sp>
        <p:nvSpPr>
          <p:cNvPr id="122" name="Google Shape;122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048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Axis–angle representation 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parameterizes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rotation in a three-dimensional Euclidean space by two 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quantities: a unit vector </a:t>
            </a:r>
            <a:r>
              <a:rPr b="1"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 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indicating the direction of an axis of rotation, and an angle </a:t>
            </a:r>
            <a:r>
              <a:rPr b="1"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θ </a:t>
            </a: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describing the magnitude 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 the rotation about the axis. 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 the rotation vector will be a vector with a magnitude of π/2 pointing in the Z direction,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3" name="Google Shape;12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14675" y="1438275"/>
            <a:ext cx="1114425" cy="179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9475" y="2031900"/>
            <a:ext cx="3781425" cy="97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7"/>
          <p:cNvPicPr preferRelativeResize="0"/>
          <p:nvPr/>
        </p:nvPicPr>
        <p:blipFill rotWithShape="1">
          <a:blip r:embed="rId5">
            <a:alphaModFix/>
          </a:blip>
          <a:srcRect b="223590" l="-73030" r="73030" t="-223590"/>
          <a:stretch/>
        </p:blipFill>
        <p:spPr>
          <a:xfrm>
            <a:off x="444575" y="1364875"/>
            <a:ext cx="552450" cy="981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7"/>
          <p:cNvPicPr preferRelativeResize="0"/>
          <p:nvPr/>
        </p:nvPicPr>
        <p:blipFill rotWithShape="1">
          <a:blip r:embed="rId5">
            <a:alphaModFix/>
          </a:blip>
          <a:srcRect b="0" l="0" r="0" t="8767"/>
          <a:stretch/>
        </p:blipFill>
        <p:spPr>
          <a:xfrm>
            <a:off x="997025" y="3673800"/>
            <a:ext cx="552450" cy="895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920">
                <a:latin typeface="Gentium Basic"/>
                <a:ea typeface="Gentium Basic"/>
                <a:cs typeface="Gentium Basic"/>
                <a:sym typeface="Gentium Basic"/>
              </a:rPr>
              <a:t>Node structure for generation of angles</a:t>
            </a:r>
            <a:endParaRPr sz="2920">
              <a:latin typeface="Gentium Basic"/>
              <a:ea typeface="Gentium Basic"/>
              <a:cs typeface="Gentium Basic"/>
              <a:sym typeface="Gentium Basic"/>
            </a:endParaRPr>
          </a:p>
        </p:txBody>
      </p:sp>
      <p:pic>
        <p:nvPicPr>
          <p:cNvPr id="132" name="Google Shape;132;p18"/>
          <p:cNvPicPr preferRelativeResize="0"/>
          <p:nvPr/>
        </p:nvPicPr>
        <p:blipFill rotWithShape="1">
          <a:blip r:embed="rId3">
            <a:alphaModFix/>
          </a:blip>
          <a:srcRect b="6069" l="2666" r="4731" t="2102"/>
          <a:stretch/>
        </p:blipFill>
        <p:spPr>
          <a:xfrm>
            <a:off x="2108930" y="1419250"/>
            <a:ext cx="4759850" cy="301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Gentium Basic"/>
                <a:ea typeface="Gentium Basic"/>
                <a:cs typeface="Gentium Basic"/>
                <a:sym typeface="Gentium Basic"/>
              </a:rPr>
              <a:t>Angle File - Why this didn’t work?</a:t>
            </a:r>
            <a:endParaRPr sz="2800">
              <a:latin typeface="Gentium Basic"/>
              <a:ea typeface="Gentium Basic"/>
              <a:cs typeface="Gentium Basic"/>
              <a:sym typeface="Gentium Basic"/>
            </a:endParaRPr>
          </a:p>
        </p:txBody>
      </p:sp>
      <p:sp>
        <p:nvSpPr>
          <p:cNvPr id="138" name="Google Shape;138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7700" y="1152475"/>
            <a:ext cx="3648378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Gentium Basic"/>
                <a:ea typeface="Gentium Basic"/>
                <a:cs typeface="Gentium Basic"/>
                <a:sym typeface="Gentium Basic"/>
              </a:rPr>
              <a:t>Corrections in Angle Calculation</a:t>
            </a:r>
            <a:endParaRPr sz="2800">
              <a:latin typeface="Gentium Basic"/>
              <a:ea typeface="Gentium Basic"/>
              <a:cs typeface="Gentium Basic"/>
              <a:sym typeface="Gentium Basic"/>
            </a:endParaRPr>
          </a:p>
        </p:txBody>
      </p:sp>
      <p:sp>
        <p:nvSpPr>
          <p:cNvPr id="145" name="Google Shape;145;p20"/>
          <p:cNvSpPr txBox="1"/>
          <p:nvPr>
            <p:ph idx="1" type="body"/>
          </p:nvPr>
        </p:nvSpPr>
        <p:spPr>
          <a:xfrm>
            <a:off x="311700" y="1152475"/>
            <a:ext cx="8350500" cy="36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50">
                <a:solidFill>
                  <a:srgbClr val="008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#Final Rotation Code</a:t>
            </a:r>
            <a:endParaRPr sz="1050">
              <a:solidFill>
                <a:srgbClr val="008000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5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angles = []</a:t>
            </a:r>
            <a:endParaRPr sz="1050">
              <a:solidFill>
                <a:schemeClr val="dk1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5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red_pcd = o3d.io.read_point_cloud(</a:t>
            </a:r>
            <a:r>
              <a:rPr lang="en-GB" sz="1050">
                <a:solidFill>
                  <a:srgbClr val="A31515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"/content/traj.pcd"</a:t>
            </a:r>
            <a:r>
              <a:rPr lang="en-GB" sz="105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chemeClr val="dk1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50">
                <a:solidFill>
                  <a:srgbClr val="AF00D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-GB" sz="105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i </a:t>
            </a:r>
            <a:r>
              <a:rPr lang="en-GB" sz="1050">
                <a:solidFill>
                  <a:srgbClr val="0000FF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en-GB" sz="105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050">
                <a:solidFill>
                  <a:srgbClr val="795E26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range</a:t>
            </a:r>
            <a:r>
              <a:rPr lang="en-GB" sz="105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1050">
                <a:solidFill>
                  <a:srgbClr val="09885A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83</a:t>
            </a:r>
            <a:r>
              <a:rPr lang="en-GB" sz="105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sz="1050">
              <a:solidFill>
                <a:schemeClr val="dk1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5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red_arr1 = PCDToNumpy(red_pcd)</a:t>
            </a:r>
            <a:endParaRPr sz="1050">
              <a:solidFill>
                <a:schemeClr val="dk1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5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angle = np.arctan2(red_arr1[i][</a:t>
            </a:r>
            <a:r>
              <a:rPr lang="en-GB" sz="1050">
                <a:solidFill>
                  <a:srgbClr val="09885A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GB" sz="105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], red_arr1[i][</a:t>
            </a:r>
            <a:r>
              <a:rPr lang="en-GB" sz="1050">
                <a:solidFill>
                  <a:srgbClr val="09885A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-GB" sz="105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])</a:t>
            </a:r>
            <a:endParaRPr sz="1050">
              <a:solidFill>
                <a:schemeClr val="dk1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5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angles.append(angle)</a:t>
            </a:r>
            <a:endParaRPr sz="1050">
              <a:solidFill>
                <a:schemeClr val="dk1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5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red_pcd_rotmat = copy.deepcopy(red_pcd)</a:t>
            </a:r>
            <a:endParaRPr sz="1050">
              <a:solidFill>
                <a:schemeClr val="dk1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5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R = red_pcd_rotmat.get_rotation_matrix_from_axis_angle(np.array([</a:t>
            </a:r>
            <a:r>
              <a:rPr lang="en-GB" sz="1050">
                <a:solidFill>
                  <a:srgbClr val="09885A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GB" sz="105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050">
                <a:solidFill>
                  <a:schemeClr val="dk1"/>
                </a:solidFill>
                <a:highlight>
                  <a:schemeClr val="accent6"/>
                </a:highlight>
                <a:latin typeface="Courier New"/>
                <a:ea typeface="Courier New"/>
                <a:cs typeface="Courier New"/>
                <a:sym typeface="Courier New"/>
              </a:rPr>
              <a:t>-angle,</a:t>
            </a:r>
            <a:r>
              <a:rPr lang="en-GB" sz="105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050">
                <a:solidFill>
                  <a:srgbClr val="09885A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GB" sz="105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]))</a:t>
            </a:r>
            <a:endParaRPr sz="1050">
              <a:solidFill>
                <a:schemeClr val="dk1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50">
                <a:solidFill>
                  <a:schemeClr val="dk1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red_pcd.rotate(R)</a:t>
            </a:r>
            <a:endParaRPr sz="1050">
              <a:solidFill>
                <a:schemeClr val="dk1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0"/>
          <p:cNvSpPr txBox="1"/>
          <p:nvPr/>
        </p:nvSpPr>
        <p:spPr>
          <a:xfrm>
            <a:off x="5715000" y="1153025"/>
            <a:ext cx="2637000" cy="10467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This code was run after making the radius of all points same by taking the help of abhijay’s code.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1"/>
          <p:cNvSpPr txBox="1"/>
          <p:nvPr>
            <p:ph type="title"/>
          </p:nvPr>
        </p:nvSpPr>
        <p:spPr>
          <a:xfrm>
            <a:off x="248000" y="3492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Gentium Basic"/>
                <a:ea typeface="Gentium Basic"/>
                <a:cs typeface="Gentium Basic"/>
                <a:sym typeface="Gentium Basic"/>
              </a:rPr>
              <a:t>Why it works</a:t>
            </a:r>
            <a:endParaRPr sz="2800">
              <a:latin typeface="Gentium Basic"/>
              <a:ea typeface="Gentium Basic"/>
              <a:cs typeface="Gentium Basic"/>
              <a:sym typeface="Gentium Basic"/>
            </a:endParaRPr>
          </a:p>
        </p:txBody>
      </p:sp>
      <p:sp>
        <p:nvSpPr>
          <p:cNvPr id="152" name="Google Shape;152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3" name="Google Shape;15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3896" y="1237371"/>
            <a:ext cx="4646850" cy="276905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1"/>
          <p:cNvSpPr txBox="1"/>
          <p:nvPr/>
        </p:nvSpPr>
        <p:spPr>
          <a:xfrm>
            <a:off x="5203200" y="1237375"/>
            <a:ext cx="3412500" cy="3632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For Every Point in the point cloud ------&gt;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arctan2(x,z) gives the angle “</a:t>
            </a:r>
            <a:r>
              <a:rPr b="1" lang="en-GB"/>
              <a:t>theta</a:t>
            </a:r>
            <a:r>
              <a:rPr lang="en-GB"/>
              <a:t>”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Now in order to rotate the point cloud towards the target point, the rotation vector needs to have the angle as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- (theta) 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 this process is repeated again and again and we see that the points one-by-one in every iteration going to the target position.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820">
                <a:latin typeface="Gentium Basic"/>
                <a:ea typeface="Gentium Basic"/>
                <a:cs typeface="Gentium Basic"/>
                <a:sym typeface="Gentium Basic"/>
              </a:rPr>
              <a:t>Sample points plotted </a:t>
            </a:r>
            <a:endParaRPr sz="2820">
              <a:latin typeface="Gentium Basic"/>
              <a:ea typeface="Gentium Basic"/>
              <a:cs typeface="Gentium Basic"/>
              <a:sym typeface="Gentium Basic"/>
            </a:endParaRPr>
          </a:p>
        </p:txBody>
      </p:sp>
      <p:pic>
        <p:nvPicPr>
          <p:cNvPr id="160" name="Google Shape;16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025" y="1383288"/>
            <a:ext cx="3438500" cy="2376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78825" y="1413550"/>
            <a:ext cx="3866849" cy="2376925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2"/>
          <p:cNvSpPr txBox="1"/>
          <p:nvPr/>
        </p:nvSpPr>
        <p:spPr>
          <a:xfrm>
            <a:off x="875500" y="3909850"/>
            <a:ext cx="739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Snapshot of 2nd iteration						        </a:t>
            </a:r>
            <a:r>
              <a:rPr lang="en-GB"/>
              <a:t>Snapshot of 3rd iteration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3"/>
          <p:cNvSpPr txBox="1"/>
          <p:nvPr>
            <p:ph type="title"/>
          </p:nvPr>
        </p:nvSpPr>
        <p:spPr>
          <a:xfrm>
            <a:off x="423225" y="24987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820">
                <a:latin typeface="Gentium Basic"/>
                <a:ea typeface="Gentium Basic"/>
                <a:cs typeface="Gentium Basic"/>
                <a:sym typeface="Gentium Basic"/>
              </a:rPr>
              <a:t>Rotation Node for simulation in Rviz and Gazebo</a:t>
            </a:r>
            <a:endParaRPr sz="2820">
              <a:latin typeface="Gentium Basic"/>
              <a:ea typeface="Gentium Basic"/>
              <a:cs typeface="Gentium Basic"/>
              <a:sym typeface="Gentium Basic"/>
            </a:endParaRPr>
          </a:p>
        </p:txBody>
      </p:sp>
      <p:pic>
        <p:nvPicPr>
          <p:cNvPr id="168" name="Google Shape;16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850" y="958050"/>
            <a:ext cx="4698551" cy="4066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14675" y="958050"/>
            <a:ext cx="4186351" cy="4066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4"/>
          <p:cNvSpPr txBox="1"/>
          <p:nvPr>
            <p:ph type="title"/>
          </p:nvPr>
        </p:nvSpPr>
        <p:spPr>
          <a:xfrm>
            <a:off x="311700" y="103950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820">
                <a:latin typeface="Gentium Basic"/>
                <a:ea typeface="Gentium Basic"/>
                <a:cs typeface="Gentium Basic"/>
                <a:sym typeface="Gentium Basic"/>
              </a:rPr>
              <a:t>Result</a:t>
            </a:r>
            <a:endParaRPr sz="2820">
              <a:latin typeface="Gentium Basic"/>
              <a:ea typeface="Gentium Basic"/>
              <a:cs typeface="Gentium Basic"/>
              <a:sym typeface="Gentium Basic"/>
            </a:endParaRPr>
          </a:p>
        </p:txBody>
      </p:sp>
      <p:sp>
        <p:nvSpPr>
          <p:cNvPr id="175" name="Google Shape;175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6" name="Google Shape;176;p24" title="augerfinalfast-2021-10-01_07.04.12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4650" y="797787"/>
            <a:ext cx="7334707" cy="4125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5"/>
          <p:cNvSpPr txBox="1"/>
          <p:nvPr>
            <p:ph idx="1" type="body"/>
          </p:nvPr>
        </p:nvSpPr>
        <p:spPr>
          <a:xfrm>
            <a:off x="1230000" y="1708800"/>
            <a:ext cx="6684000" cy="172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0">
                <a:latin typeface="Gentium Basic"/>
                <a:ea typeface="Gentium Basic"/>
                <a:cs typeface="Gentium Basic"/>
                <a:sym typeface="Gentium Basic"/>
              </a:rPr>
              <a:t>Thank You !</a:t>
            </a:r>
            <a:endParaRPr sz="10000">
              <a:latin typeface="Gentium Basic"/>
              <a:ea typeface="Gentium Basic"/>
              <a:cs typeface="Gentium Basic"/>
              <a:sym typeface="Gentium Bas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IDML_template">
  <a:themeElements>
    <a:clrScheme name="Custom 4">
      <a:dk1>
        <a:srgbClr val="000000"/>
      </a:dk1>
      <a:lt1>
        <a:srgbClr val="FFFFFF"/>
      </a:lt1>
      <a:dk2>
        <a:srgbClr val="111112"/>
      </a:dk2>
      <a:lt2>
        <a:srgbClr val="EEECE1"/>
      </a:lt2>
      <a:accent1>
        <a:srgbClr val="B0B6B7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